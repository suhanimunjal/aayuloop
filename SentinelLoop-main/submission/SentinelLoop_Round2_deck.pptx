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613eb59-9aac-46a6-2863-7282f22b78c8}">
          <p14:sldIdLst>
            <p14:sldId id="256"/>
          </p14:sldIdLst>
        </p14:section>
        <p14:section name="Problem and system" id="{227852bb-acde-acfb-159e-50114ccb12fd}">
          <p14:sldIdLst>
            <p14:sldId id="257"/>
            <p14:sldId id="258"/>
          </p14:sldIdLst>
        </p14:section>
        <p14:section name="Data and models" id="{3e380a34-0b7c-67f8-a5b0-d14ed7b8103d}">
          <p14:sldIdLst>
            <p14:sldId id="259"/>
            <p14:sldId id="260"/>
          </p14:sldIdLst>
        </p14:section>
        <p14:section name="The agent" id="{15758918-2bd8-ba86-c2cf-c3065241eaeb}">
          <p14:sldIdLst>
            <p14:sldId id="261"/>
          </p14:sldIdLst>
        </p14:section>
        <p14:section name="Evidence" id="{67b0b434-811b-2bb2-eaac-a52214ebd2bf}">
          <p14:sldIdLst>
            <p14:sldId id="262"/>
            <p14:sldId id="263"/>
            <p14:sldId id="264"/>
          </p14:sldIdLst>
        </p14:section>
        <p14:section name="Closing" id="{2b30b89a-d314-5735-7323-323185cec6f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32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324F"/>
                </a:solidFill>
                <a:latin typeface="+mn-lt"/>
              </a:rPr>
              <a:t>Validation RMSE: leakage-prone vs honest protocol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leakage-prone protocol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2.53</c:v>
                </c:pt>
                <c:pt idx="1">
                  <c:v>3.49</c:v>
                </c:pt>
                <c:pt idx="2">
                  <c:v>2.98</c:v>
                </c:pt>
                <c:pt idx="3">
                  <c:v>6.87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honest protocol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16.63</c:v>
                </c:pt>
                <c:pt idx="1">
                  <c:v>15.71</c:v>
                </c:pt>
                <c:pt idx="2">
                  <c:v>12.4</c:v>
                </c:pt>
                <c:pt idx="3">
                  <c:v>15.59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+mn-lt"/>
                  </a:rPr>
                  <a:t>RMSE (cycles)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32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324F"/>
                </a:solidFill>
                <a:latin typeface="+mn-lt"/>
              </a:rPr>
              <a:t>Test RMSE vs RUL capped at 125 (naive mean: 42–46)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14.55</c:v>
                </c:pt>
                <c:pt idx="1">
                  <c:v>15.17</c:v>
                </c:pt>
                <c:pt idx="2">
                  <c:v>15.22</c:v>
                </c:pt>
                <c:pt idx="3">
                  <c:v>16.23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HistGradientBoosting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14.17</c:v>
                </c:pt>
                <c:pt idx="1">
                  <c:v>14.92</c:v>
                </c:pt>
                <c:pt idx="2">
                  <c:v>13.57</c:v>
                </c:pt>
                <c:pt idx="3">
                  <c:v>15.15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32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6324F"/>
                </a:solidFill>
                <a:latin typeface="+mn-lt"/>
              </a:rPr>
              <a:t>Good cycles given up per engine at the generic threshold (E1 replay)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 estimate ≤ 25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25.2</c:v>
                </c:pt>
                <c:pt idx="1">
                  <c:v>26.5</c:v>
                </c:pt>
                <c:pt idx="2">
                  <c:v>25.7</c:v>
                </c:pt>
                <c:pt idx="3">
                  <c:v>25.7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 lower bound ≤ 25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40.3</c:v>
                </c:pt>
                <c:pt idx="1">
                  <c:v>39.2</c:v>
                </c:pt>
                <c:pt idx="2">
                  <c:v>36.7</c:v>
                </c:pt>
                <c:pt idx="3">
                  <c:v>38.9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+mn-lt"/>
                  </a:rPr>
                  <a:t>mean discarded life (cycles)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F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NASA C-MAPSS data; no real-world cost or safety claim. Negative results are on slides 7 and 9; limitations on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20240"/>
            <a:ext cx="110642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EF1F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F1F4"/>
                </a:solidFill>
              </a:rPr>
              <a:t>SentinelLoop · TELIPORT Season 4 · Case Study 1 · simulated NASA C-MAPSS data · no LLM · every number from docs/NUMBERS.md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1F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6324F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SentinelLoop · TELIPORT Season 4 · Case Study 1 · simulated NASA C-MAPSS data · no LLM · every number from docs/NUMBERS.md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1F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SentinelLoop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920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</a:rPr>
              <a:t>Self-Healing Machines: Predictive Maintenance for a Connected Fleet (Case Study 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EF1F4"/>
                </a:solidFill>
              </a:rPr>
              <a:t>RUL with a calibrated 90% interval · a deterministic Triage Agent that raises work orders from the interval lower bound, escalates untrustworthy inputs to a human, retrains only through a gate and keeps every decision re-derivable.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A8A04"/>
                </a:solidFill>
              </a:rPr>
              <a:t>Team SentinelLoop (college to be filled)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8A04"/>
                </a:solidFill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C-MAPSS subsets, official test protocol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4297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8A04"/>
                </a:solidFill>
              </a:rPr>
              <a:t>3,409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audited decisions, 0 re-derivation mismatches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4297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8A04"/>
                </a:solidFill>
              </a:rPr>
              <a:t>112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tests, including stream = batch bitwise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297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8A04"/>
                </a:solidFill>
              </a:rPr>
              <a:t>55.0 min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 regenerate every number with one command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EF1F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The problem, in the case study's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INGEST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93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fleet sensor 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21 sensors + 3 settings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94560" y="1783080"/>
            <a:ext cx="1828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12801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CLEAN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16093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fill, quality flag,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regime scaling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1783080"/>
            <a:ext cx="1828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2801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DETECT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6093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degradation on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healthy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1828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2801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DEBD9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PREDICT RUL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93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point + 90% interval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0" y="1783080"/>
            <a:ext cx="1828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38160" y="12801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DEBD9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WORK ORDER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16093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created automatically,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one per machine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75520" y="1783080"/>
            <a:ext cx="1828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0" y="128016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FDEBD9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04120" y="1335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HUMAN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6093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only for exceptions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Today failures are found after breakdowns or by fixed service intervals. Ground rules: mild imbalance (failures are rare), no manual steps once data is provided, lightweight rules without an LLM, documented design.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Is the order right?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069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Uncertainty is part of the decision (interval lower bound) and the agent is scored as a maintenance policy: late orders, discarded life, escalations.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43400" y="342900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43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98348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Can the inputs be trusted?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4069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Quality and drift monitors feed the agent; stress tests measure silent wrong orders on corrupted data.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38160" y="342900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381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Can a decision be explained later?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138160" y="4069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decision stores its inputs, thresholds, rules and model version in a hash-chained log and re-derives from it.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3949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Honest-evidence promise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Seven hypotheses were pre-registered with success criteria; three failed as registered and are reported as such (slides 7 and 9). Nothing here is claimed as first; prior work is cited on slide 10.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Architecture: one command runs the whole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89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SENSOR STREAM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636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batch file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cycle-by-cycle replay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40280" y="1801368"/>
            <a:ext cx="1371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289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CLEAN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15636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per-unit fill + quality flag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drop list · regime scaling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(fit on train only)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1801368"/>
            <a:ext cx="1371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289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5636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causal rolling mean / std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slope over 20 cycles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801368"/>
            <a:ext cx="1371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DEBD9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289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MODELS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5636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health index · HGBR RUL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+ conformal 90% interval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01000" y="1801368"/>
            <a:ext cx="1371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3816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DEBD9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1289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TRIAGE AGENT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15636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severity from the interval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lower bound; quality, drift,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width → escalate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921240" y="1801368"/>
            <a:ext cx="13716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0" y="123444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EEF1F4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04120" y="1289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WORK ORDER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5636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action · due-by cycle · top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sensors · audit chain · SQLite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920240" y="274320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E9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65960" y="2798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DRIFT MONITOR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30723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age-matched PSI; settings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are critical columns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3246120"/>
            <a:ext cx="1828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51960" y="274320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E9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97680" y="2798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RETRAIN ON NEW DATA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30723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`sentinelloop retrain`: new 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or drift alarm → challenger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246120"/>
            <a:ext cx="1828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83680" y="274320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E9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2798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PROMOTION GATE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0723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RMSE ≤ +2% · coverage ≥ 0.85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late orders not worse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32520" y="3246120"/>
            <a:ext cx="182880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915400" y="274320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E9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0" y="27980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MLflow REGISTRY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961120" y="30723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SQLite backend · champion alias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1F24"/>
                </a:solidFill>
              </a:rPr>
              <a:t>reject logged with reasons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sentinelloop run --subset all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48056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End-to-end on a CPU laptop: 36–45 s per subset, no manual step; one experiments/run_all.py invocation regenerates every number in this deck in 55.0 minutes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112 tests: train-only fits, look-ahead, bitwise stream = batch on real data, the gate, the retraining flow, audit re-derivation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Six-tab Streamlit dashboard (fleet, engine, work orders, model &amp; monitoring, experiments, audit) reads only stored artefacts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Stream mode: the same cleaning, feature and agent code, one row at a time, with a window quality monitor; identical decisions to batch for the same cycles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480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36–45 s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8138160" y="5120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 subset, end to end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372600" y="4480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55.0 min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9372600" y="5120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run_all.py, every artefact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0607040" y="4480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112</a:t>
            </a:r>
            <a:endParaRPr lang="en-US" sz="3000" dirty="0"/>
          </a:p>
        </p:txBody>
      </p:sp>
      <p:sp>
        <p:nvSpPr>
          <p:cNvPr id="48" name="Text 46"/>
          <p:cNvSpPr txBox="1"/>
          <p:nvPr/>
        </p:nvSpPr>
        <p:spPr>
          <a:xfrm>
            <a:off x="10607040" y="51206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 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Data engineering: train-only fits, honest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0350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Train-only fits: constant-sensor drop list (4–6 sensors per subset), KMeans operating regimes (6 on FD002/FD004, purity 1.00), per-regime scaling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Causal rolling mean / std / slope over 20 cycles; batch and stream use the same numpy arithmetic, so a tree model never sees a 1e-12 difference between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Missing values: per-unit fill with a quality flag the agent reads; noise handled by the rolling features (EMA tested: −1.4 RMSE on FD001 but +6.7 on FD004, so off)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metrics.json and MLflow run carries the data SHA-256 hashes and the config hash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Leakage audit: the 'last cycle of a held-out training engine' protocol reports RMSE 2.5–6.9; the honest random-truncation protocol 12.4–16.6 (2.3–6.6×)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Ablation (E7): rolling features worth 2.7 RMSE on FD001; regime normalisation worth 1.1 RMSE on FD004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766560" y="118872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507492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5486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naive validation would have claimed an error four to seven times smaller than the official test shows. We report the honest number, and both RMSEs: against RUL capped at 125 and against raw truth.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Models and performance on all four subsets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25880"/>
                <a:gridCol w="868680"/>
                <a:gridCol w="640080"/>
                <a:gridCol w="1325880"/>
                <a:gridCol w="548640"/>
                <a:gridCol w="594360"/>
                <a:gridCol w="8229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capped / 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agent's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PHM08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capped / 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14.17 / 15.37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/ 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14.92 / 26.99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 / 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13.57 / 15.32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/ 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15.15 / 26.89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/ 0.58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7498080" y="109728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2926080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Why HistGradientBoosting + conformalized quantile regression: CPU, seconds, retrains live, explainable; the interval is calibrated on held-out engines with random truncations (Romano et al. 2019; CQR on C-MAPSS as in Robinson 2026)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Coverage is measured per subset and stated as marginal: FD004 is below nominal (0.85) and reported as such; an asymmetric CQR option raises it to 0.89 on the ablation split for +2.4 cycles of width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Published deep models reach ≈ 11–13 RMSE on FD001 under their own protocols (prior-art document); the loop around the model is where the measured value 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Health index on real degradation (official test engines): flags 0.30–0.69 of engines within 25 cycles of failure and 0.01–0.06 of engines with more than 50 cycles left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headline RMSE is the all-engine model; the agent acts on the 70%-engine model whose other 30% calibrate the interval (second column); both are reported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7498080" y="434340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3524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Reading the table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475488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RMSE against raw truth is larger on FD002/FD004 because raw RUL exceeds the 125 cap early in life; the PHM08 score penalises late predictions more than early ones (convention printed in every metrics.json).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Triage Agent: deterministic rules, actionable orders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058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(L = 90% interval lower bound)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≤ 10 cycles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&amp; repair, maintenance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≤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≤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anomaly, RUL 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 wider than its calibrated limit; &gt; 10% imputed inputs; a setting out of range; fleet drift on HIGH/CRITICAL; anomaly vs RUL conflict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order for a human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6675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One open order per machine; a higher severity upgrades it and pulls the due-by cycle earlier; the order carries action, RUL interval, due-by cycle, the top deviating sensors, the reasons and the model version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Every decision stores inputs, thresholds, rules fired and model version in a hash-chained audit log (slide 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Mild imbalance: the anomaly baseline is healthy behaviour; thresholds are set on validation engines, never on test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7406640" y="1188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Decisions vs truth, official test engines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0.0%–8.0%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286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engines within 25 cycles of failure NOT marked HIGH/CRITICAL (per subset)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0–1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2286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confident orders on engines with more than 50 cycles left (count per subset)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8%–19%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3886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escalation share on clean test data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60120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205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0" y="3886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work-order records in the evidence run (batch + stream replay)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93776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43800" y="5029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What this shows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53492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Serious engines are almost all caught; the lower bound is optimistic for 5%–15% of engines, mostly early in life where it does not trigger an order.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The agent as a maintenance policy: a measured trade-off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 maintenance terms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9834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late order: the engine reaches end of life before the order is acted on. Discarded life: good cycles given up by ordering early. At the generic 25-cycle threshold neither policy is late on three of four subsets, so the interval's safety margin is paid for in discarded life.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143000"/>
            <a:ext cx="58521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Replay of complete out-of-fold trajectories: the lower-bound policy discards 11.0–15.0 more cycles per engine than the point policy at the generic threshold; late rate 0 for both on 3 of 4 subsets (H1 NOT SUPPORTED as pre-registered)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Frontier at matched late-rate targets: the interval family is better on both metrics at 3/16 points, dominated at 3/16, a trade-off elsewhere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Tuned lower-bound thresholds are unstable: seeds 42/43/44 give 6/2/0 cycles and evaluation late rates of 1%/20%/54%; a fleet must tune on far more engines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Cost sweep (assumed failure cost 25–500 cycles of life): the cost-tuned point threshold moves from 8–13 to 10–17 cycles; no money saving is claimed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E2: width-based abstention alone does not concentrate errors (acted-upon engines have equal or higher error rates on 3 of 4 subsets; escalation share 7%–15%) — H2 NOT SUPPORTED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E5: RMSE orders our point models within one to two cycles of discarded life and cannot see the policy at all — the same model acted on through its lower bound has the same RMSE and 11–15 cycles more discarded life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Related work: Mitici et al. 2023 and Lee &amp; Mitici 2023 (decision-level metrics); the IntelliTwin repository (policy replay)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Stress tests: when the inputs cannot be trusted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868680"/>
                <a:gridCol w="868680"/>
                <a:gridCol w="868680"/>
                <a:gridCol w="100584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(half of the test engines corrupted)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FD002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FD004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agent silent wrong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missing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0%–4%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3σ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1%–20%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0%–8%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+2σ bias, one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3%–10%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+3σ bias, one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3%–10%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Detection and false alarms are change-relative to the clean run of the same engines; zero additional per-engine false alarms in every scenario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Missing values, noise and a regime shift are caught on 98–100% of corrupted engines; a single biased sensor is a detection floor on the single-regime subsets (4–20%) and is caught on FD002/FD004 (88–96%) and at fleet level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Silent wrong orders (a HIGH/CRITICAL order issued without escalation that the clean data would not have produced): point-threshold agent 0%–20%; full agent 0% in all 20 scenarios; without the fleet-level rule 0%–12%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cost of the fleet rule: while a fleet alarm is active, 25%–36% of the CLEAN engines are escalated to a human (clean run: 6%–18%)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One fleet-level false alarm: FD003's 50 clean engines trip the severe single-feature rule on their early-life rows (reported; the pooled 100 engines do not)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8046720" y="118872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the human sees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600200"/>
            <a:ext cx="3383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 INSPECTION order instead of a confident maintenance order: the reasons (data quality, insufficient evidence, drift active, conflicting evidence), the imputed fraction, the out-of-range settings and the top deviating sensors.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silent wrong orders, full agent, 20 scenarios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92124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0%–12%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921240" y="4343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without the fleet rule (per-engine evidence alone)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512064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Honest reading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5532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zero is mostly the fleet rule; per-engine evidence alone is not enough, and the rule costs healthy engines. Both numbers are shown.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MLOps in action: drift, gated retraining, registry, audit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51560"/>
                <a:gridCol w="105156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Challenger trained on champion data 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(picp)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+3σ sensor offset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(rmse)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(rmse)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40 cycles too optimistic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(rmse)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(rmse)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(rmse)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(rmse)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6974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Gate: validation RMSE ≤ champion + 2% · coverage ≥ 0.85 · late-order rate at the CRITICAL threshold ≤ champion + 0.02. Secondary run (post hoc, 20 validation rows per engine); the pre-registered run gave 4/8 outcomes as expected and is reported with it.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2900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Label-corrupted challengers are rejected on all four subsets (RMSE 2.9–5.2 worse than the champion); the late-rate gate fires on FD003 and FD004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Honest caveats: a harmless sensor offset is promoted on two subsets because it does not hurt validation metrics; the absolute coverage floor rejected FD001's better challenger twice (fix: a floor relative to the champion)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Drift trigger (age-matched PSI): 0 false alarms in 20 clean windows on every subset; alarms on a regime shift and a sensor bias on every subset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retraining flow is a command: python -m sentinelloop retrain --subset FD003 --new-data &lt;file&gt; (or --simulate-new-data, --only-if-drift); live in the demo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MLflow (SQLite backend): params, metrics, data hash, post-agent metrics, registered models with a champion alias; every scenario hands the alias back to the champion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Auditability (E6)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3,409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240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decisions re-derived from their records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2240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re-derivation mismatches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4 / 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703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logs where an in-place tamper is detected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205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0" y="3703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orders carrying model version and severity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4572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4663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Not covered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9834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chain detects edits and reordering, not truncation of the tail or a full re-hash by someone with write access; the terminal hash is anchored in metrics.json and the MLflow run of the same pipeline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Limitations, reproducibility, deployment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Known limitations (37 in docs/KNOWN_LIMITATIONS.md)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5577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Simulated data; no CMMS integration; no cost saving claimed (cost ratios are swept assumptions)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official test set was used for three design toggles and FD001's monitoring rules; FD002–FD004 are confirmatory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Single seed except the E1 seed check; tuned lower-bound thresholds unstable across seeds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Coverage subset-dependent (FD004 0.85); the absolute coverage gate floor is the weak rule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audit chain has no external anchor beyond MLflow; thresholds must be tuned per fleet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What deployment would take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5448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data contract: 26 columns per cycle per machine, batch or stream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Per-fleet threshold calibration on historical run-to-failure data, validated on held-out machines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CMMS connector for the work-order record (action, due-by, reasons, sensors)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retraining calendar driven by the drift monitor, with the gate's reject log reviewed by an engineer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 operator sign-off on the acceptable escalation share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389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Reproducibility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709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Pinned environment (requirements.lock.txt), seeds in config, data checksums verified by 'python -m sentinelloop doctor'; experiments/run_all.py regenerates every artefact in 55.0 minutes; experiments/numbers_digest.py prints every number in this deck; 112 tests. Annex: clean-clone commands, recorded run, repository.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References: Saxena et al. 2008 (C-MAPSS, PHM08) · Romano, Patterson, Candès 2019 (Conformalized Quantile Regression) · Robinson, IJPHM 2026 (CQR for RUL on C-MAPSS) · Mitici et al. 2023; Lee &amp; Mitici 2023 (decision-level evaluation of prognostics) · Kamariotis et al. 2024 (decision-oriented metrics) · IntelliTwin (policy replay on C-MAPSS, GitHub). Nothing here is claimed as first; the strongest wording we use is 'not found in our search'.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Loop">
  <a:themeElements>
    <a:clrScheme name="SentinelLoop">
      <a:dk1>
        <a:srgbClr val="1B1F24"/>
      </a:dk1>
      <a:lt1>
        <a:srgbClr val="FFFFFF"/>
      </a:lt1>
      <a:dk2>
        <a:srgbClr val="16324F"/>
      </a:dk2>
      <a:lt2>
        <a:srgbClr val="EEF1F4"/>
      </a:lt2>
      <a:accent1>
        <a:srgbClr val="C55A11"/>
      </a:accent1>
      <a:accent2>
        <a:srgbClr val="1F4E79"/>
      </a:accent2>
      <a:accent3>
        <a:srgbClr val="2E7D32"/>
      </a:accent3>
      <a:accent4>
        <a:srgbClr val="CA8A04"/>
      </a:accent4>
      <a:accent5>
        <a:srgbClr val="B91C1C"/>
      </a:accent5>
      <a:accent6>
        <a:srgbClr val="6B7280"/>
      </a:accent6>
      <a:hlink>
        <a:srgbClr val="1F4E79"/>
      </a:hlink>
      <a:folHlink>
        <a:srgbClr val="6B7280"/>
      </a:folHlink>
    </a:clrScheme>
    <a:fontScheme name="SentinelLo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SentinelLoop - TELIPORT Season 4 Round 2 - Case Study 1</dc:title>
  <dc:subject>Self-Healing Machines: Predictive Maintenance for a Connected Fleet</dc:subject>
  <dc:creator>Team SentinelLoop (college to be filled)</dc:creator>
  <cp:lastModifiedBy>Team SentinelLoop (college to be filled)</cp:lastModifiedBy>
  <cp:revision>1</cp:revision>
  <dcterms:created xsi:type="dcterms:W3CDTF">2026-10-18T01:10:44Z</dcterms:created>
  <dcterms:modified xsi:type="dcterms:W3CDTF">2026-10-18T01:10:44Z</dcterms:modified>
</cp:coreProperties>
</file>